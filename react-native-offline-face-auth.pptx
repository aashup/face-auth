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641" y="1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9579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926080"/>
            <a:ext cx="2743200" cy="2743200"/>
          </a:xfrm>
          <a:prstGeom prst="ellipse">
            <a:avLst/>
          </a:prstGeom>
          <a:solidFill>
            <a:srgbClr val="00C8F8">
              <a:alpha val="15000"/>
            </a:srgbClr>
          </a:solidFill>
          <a:ln w="12700">
            <a:solidFill>
              <a:srgbClr val="00C8F8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3200400"/>
            <a:ext cx="2286000" cy="2286000"/>
          </a:xfrm>
          <a:prstGeom prst="ellipse">
            <a:avLst/>
          </a:prstGeom>
          <a:solidFill>
            <a:srgbClr val="2EE8B0">
              <a:alpha val="15000"/>
            </a:srgbClr>
          </a:solidFill>
          <a:ln w="12700">
            <a:solidFill>
              <a:srgbClr val="2EE8B0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3291840" cy="384048"/>
          </a:xfrm>
          <a:prstGeom prst="roundRect">
            <a:avLst>
              <a:gd name="adj" fmla="val 2381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029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React Native · Offline · Biometrics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00584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react-native-</a:t>
            </a:r>
            <a:endParaRPr lang="en-US" sz="4600" dirty="0"/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offline-face-auth</a:t>
            </a:r>
            <a:endParaRPr lang="en-US" sz="4600" dirty="0"/>
          </a:p>
        </p:txBody>
      </p:sp>
      <p:sp>
        <p:nvSpPr>
          <p:cNvPr id="8" name="Shape 6"/>
          <p:cNvSpPr/>
          <p:nvPr/>
        </p:nvSpPr>
        <p:spPr>
          <a:xfrm>
            <a:off x="502920" y="2304288"/>
            <a:ext cx="3566160" cy="64008"/>
          </a:xfrm>
          <a:prstGeom prst="rect">
            <a:avLst/>
          </a:prstGeom>
          <a:solidFill>
            <a:srgbClr val="00C8F8"/>
          </a:solidFill>
          <a:ln w="12700">
            <a:solidFill>
              <a:srgbClr val="00C8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4688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kern="0" spc="300" dirty="0">
                <a:solidFill>
                  <a:srgbClr val="00C8F8"/>
                </a:solidFill>
              </a:rPr>
              <a:t>Fast  ·  Scalable  ·  Integrated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" y="310896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ABFD0"/>
                </a:solidFill>
              </a:rPr>
              <a:t>Fully on-device facial recognition + liveness detection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8ABFD0"/>
                </a:solidFill>
              </a:rPr>
              <a:t>for field-personnel attendance — open-source TFLite models,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8ABFD0"/>
                </a:solidFill>
              </a:rPr>
              <a:t>hardware-backed security, and AWS sync-and-purge.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43434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EE8B0"/>
                </a:solidFill>
              </a:rPr>
              <a:t>&lt; 3 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02920" y="47274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BFD0"/>
                </a:solidFill>
              </a:rPr>
              <a:t>auth time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51760" y="43434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EE8B0"/>
                </a:solidFill>
              </a:rPr>
              <a:t>&lt; 10 MB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651760" y="47274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BFD0"/>
                </a:solidFill>
              </a:rPr>
              <a:t>model size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00600" y="43434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EE8B0"/>
                </a:solidFill>
              </a:rPr>
              <a:t>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800600" y="47274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BFD0"/>
                </a:solidFill>
              </a:rPr>
              <a:t>cloud calls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8ABFD0"/>
                </a:solidFill>
              </a:rPr>
              <a:t>for auth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9440" y="43434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EE8B0"/>
                </a:solidFill>
              </a:rPr>
              <a:t>3 GB+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949440" y="47274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ABFD0"/>
                </a:solidFill>
              </a:rPr>
              <a:t>device min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1B2E"/>
                </a:solidFill>
              </a:rPr>
              <a:t>Authentication Pipeline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7A90"/>
                </a:solidFill>
              </a:rPr>
              <a:t>Every auth attempt flows through a 4-stage gate — fully on-device.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84048" y="1234440"/>
            <a:ext cx="193852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84048" y="1234440"/>
            <a:ext cx="54864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362456"/>
            <a:ext cx="694944" cy="69494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36245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22199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028090"/>
                </a:solidFill>
              </a:rPr>
              <a:t>GATE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53288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1B2E"/>
                </a:solidFill>
              </a:rPr>
              <a:t>Quality Check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86968" y="2916936"/>
            <a:ext cx="9144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063240"/>
            <a:ext cx="16276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7 checks: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blur, brightness,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size, centering,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pose, 1-face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386584" y="2788920"/>
            <a:ext cx="109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▶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05456" y="1234440"/>
            <a:ext cx="193852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05456" y="1234440"/>
            <a:ext cx="54864" cy="3520440"/>
          </a:xfrm>
          <a:prstGeom prst="rect">
            <a:avLst/>
          </a:prstGeom>
          <a:solidFill>
            <a:srgbClr val="00C8F8"/>
          </a:solidFill>
          <a:ln w="12700">
            <a:solidFill>
              <a:srgbClr val="00C8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27248" y="1362456"/>
            <a:ext cx="694944" cy="694944"/>
          </a:xfrm>
          <a:prstGeom prst="ellipse">
            <a:avLst/>
          </a:prstGeom>
          <a:solidFill>
            <a:srgbClr val="00C8F8"/>
          </a:solidFill>
          <a:ln w="12700">
            <a:solidFill>
              <a:srgbClr val="00C8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27248" y="136245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70048" y="222199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00C8F8"/>
                </a:solidFill>
              </a:rPr>
              <a:t>CHALLENGE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670048" y="253288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1B2E"/>
                </a:solidFill>
              </a:rPr>
              <a:t>Active Liveness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08376" y="2916936"/>
            <a:ext cx="914400" cy="36576"/>
          </a:xfrm>
          <a:prstGeom prst="rect">
            <a:avLst/>
          </a:prstGeom>
          <a:solidFill>
            <a:srgbClr val="00C8F8"/>
          </a:solidFill>
          <a:ln w="12700">
            <a:solidFill>
              <a:srgbClr val="00C8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70048" y="3063240"/>
            <a:ext cx="16276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Random task: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Blink / Smile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Turn head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3 min timeout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07992" y="2788920"/>
            <a:ext cx="109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26864" y="1234440"/>
            <a:ext cx="193852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26864" y="1234440"/>
            <a:ext cx="54864" cy="3520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48656" y="1362456"/>
            <a:ext cx="694944" cy="694944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48656" y="136245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91456" y="222199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5A623"/>
                </a:solidFill>
              </a:rPr>
              <a:t>ANALYZE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91456" y="253288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1B2E"/>
                </a:solidFill>
              </a:rPr>
              <a:t>Passive + Embed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129784" y="2916936"/>
            <a:ext cx="91440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91456" y="3063240"/>
            <a:ext cx="16276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MiniFASNet ×2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spoof score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FaceNet 512-d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vector (×4 frames)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29400" y="2788920"/>
            <a:ext cx="109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748272" y="1234440"/>
            <a:ext cx="193852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48272" y="1234440"/>
            <a:ext cx="54864" cy="3520440"/>
          </a:xfrm>
          <a:prstGeom prst="rect">
            <a:avLst/>
          </a:prstGeom>
          <a:solidFill>
            <a:srgbClr val="2EE8B0"/>
          </a:solidFill>
          <a:ln w="12700">
            <a:solidFill>
              <a:srgbClr val="2EE8B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70064" y="1362456"/>
            <a:ext cx="694944" cy="694944"/>
          </a:xfrm>
          <a:prstGeom prst="ellipse">
            <a:avLst/>
          </a:prstGeom>
          <a:solidFill>
            <a:srgbClr val="2EE8B0"/>
          </a:solidFill>
          <a:ln w="12700">
            <a:solidFill>
              <a:srgbClr val="2EE8B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70064" y="136245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912864" y="222199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2EE8B0"/>
                </a:solidFill>
              </a:rPr>
              <a:t>MATCH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912864" y="2532888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1B2E"/>
                </a:solidFill>
              </a:rPr>
              <a:t>3-Step Cascade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251192" y="2916936"/>
            <a:ext cx="914400" cy="36576"/>
          </a:xfrm>
          <a:prstGeom prst="rect">
            <a:avLst/>
          </a:prstGeom>
          <a:solidFill>
            <a:srgbClr val="2EE8B0"/>
          </a:solidFill>
          <a:ln w="12700">
            <a:solidFill>
              <a:srgbClr val="2EE8B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12864" y="3063240"/>
            <a:ext cx="16276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Coarse filter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Cross-matrix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Score fusion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A7A90"/>
                </a:solidFill>
              </a:rPr>
              <a:t>≥ 0.72 → PASS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97280" y="4681728"/>
            <a:ext cx="6949440" cy="320040"/>
          </a:xfrm>
          <a:prstGeom prst="roundRect">
            <a:avLst>
              <a:gd name="adj" fmla="val 22857"/>
            </a:avLst>
          </a:prstGeom>
          <a:solidFill>
            <a:srgbClr val="2EE8B0">
              <a:alpha val="85000"/>
            </a:srgbClr>
          </a:solidFill>
          <a:ln w="12700">
            <a:solidFill>
              <a:srgbClr val="2EE8B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97280" y="468172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1B2E"/>
                </a:solidFill>
              </a:rPr>
              <a:t>AuthResult  { ok, personnelId, matchScore, livenessScore, challengePassed }  →  auditLog (signed, hash-chained)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Hybrid Liveness Detection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ABFD0"/>
                </a:solidFill>
              </a:rPr>
              <a:t>Two independent spoof-defeating layers — neither alone is sufficient.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69080" cy="3657600"/>
          </a:xfrm>
          <a:prstGeom prst="rect">
            <a:avLst/>
          </a:prstGeom>
          <a:solidFill>
            <a:srgbClr val="0A2D42"/>
          </a:solidFill>
          <a:ln w="12700">
            <a:solidFill>
              <a:srgbClr val="0A2D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54864" cy="3657600"/>
          </a:xfrm>
          <a:prstGeom prst="rect">
            <a:avLst/>
          </a:prstGeom>
          <a:solidFill>
            <a:srgbClr val="00C8F8"/>
          </a:solidFill>
          <a:ln w="12700">
            <a:solidFill>
              <a:srgbClr val="00C8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8F8"/>
                </a:solidFill>
              </a:rPr>
              <a:t>PASSIVE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MiniFASNet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Anti-Spoofing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2523744"/>
            <a:ext cx="219456" cy="219456"/>
          </a:xfrm>
          <a:prstGeom prst="ellipse">
            <a:avLst/>
          </a:prstGeom>
          <a:solidFill>
            <a:srgbClr val="00C8F8"/>
          </a:solidFill>
          <a:ln w="12700">
            <a:solidFill>
              <a:srgbClr val="00C8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45059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2.7× scale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41248" y="27432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BFD0"/>
                </a:solidFill>
              </a:rPr>
              <a:t>Captures texture artifacts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ABFD0"/>
                </a:solidFill>
              </a:rPr>
              <a:t>from printed photos &amp; screens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255264"/>
            <a:ext cx="219456" cy="219456"/>
          </a:xfrm>
          <a:prstGeom prst="ellipse">
            <a:avLst/>
          </a:prstGeom>
          <a:solidFill>
            <a:srgbClr val="00C8F8"/>
          </a:solidFill>
          <a:ln w="12700">
            <a:solidFill>
              <a:srgbClr val="00C8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821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4.0× scale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1248" y="34747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BFD0"/>
                </a:solidFill>
              </a:rPr>
              <a:t>Captures geometry cues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ABFD0"/>
                </a:solidFill>
              </a:rPr>
              <a:t>from 3D masks &amp; video replays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986784"/>
            <a:ext cx="219456" cy="219456"/>
          </a:xfrm>
          <a:prstGeom prst="ellipse">
            <a:avLst/>
          </a:prstGeom>
          <a:solidFill>
            <a:srgbClr val="00C8F8"/>
          </a:solidFill>
          <a:ln w="12700">
            <a:solidFill>
              <a:srgbClr val="00C8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9136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Averaged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42062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BFD0"/>
                </a:solidFill>
              </a:rPr>
              <a:t>4 frames · both branches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ABFD0"/>
                </a:solidFill>
              </a:rPr>
              <a:t>for a stable live/spoof decision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1188720"/>
            <a:ext cx="4069080" cy="3657600"/>
          </a:xfrm>
          <a:prstGeom prst="rect">
            <a:avLst/>
          </a:prstGeom>
          <a:solidFill>
            <a:srgbClr val="0A2D42"/>
          </a:solidFill>
          <a:ln w="12700">
            <a:solidFill>
              <a:srgbClr val="0A2D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1188720"/>
            <a:ext cx="54864" cy="3657600"/>
          </a:xfrm>
          <a:prstGeom prst="rect">
            <a:avLst/>
          </a:prstGeom>
          <a:solidFill>
            <a:srgbClr val="2EE8B0"/>
          </a:solidFill>
          <a:ln w="12700">
            <a:solidFill>
              <a:srgbClr val="2EE8B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325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2EE8B0"/>
                </a:solidFill>
              </a:rPr>
              <a:t>ACTIVE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92040" y="162763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Randomized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Challenge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892040" y="245059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👁  Blink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92040" y="27432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BFD0"/>
                </a:solidFill>
              </a:rPr>
              <a:t>EAR dips &lt; 0.18 (closed)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ABFD0"/>
                </a:solidFill>
              </a:rPr>
              <a:t>then rises ≥ 0.22 (open)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92040" y="31821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😊  Smile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3474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BFD0"/>
                </a:solidFill>
              </a:rPr>
              <a:t>mouth_width / mouth_height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ABFD0"/>
                </a:solidFill>
              </a:rPr>
              <a:t>ratio ≥ 0.72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92040" y="39136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↩  Turn Head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92040" y="42062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BFD0"/>
                </a:solidFill>
              </a:rPr>
              <a:t>|yaw| &gt; 15° away, then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ABFD0"/>
                </a:solidFill>
              </a:rPr>
              <a:t>returns |yaw| &lt; 5°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5296" y="2579728"/>
            <a:ext cx="822960" cy="8229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30752" y="255229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1B2E"/>
                </a:solidFill>
              </a:rPr>
              <a:t>+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502920" y="48920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BFD0"/>
                </a:solidFill>
              </a:rPr>
              <a:t>One is chosen at random per session — static photos, screens, and masks all fail.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1B2E"/>
                </a:solidFill>
              </a:rPr>
              <a:t>Security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7A90"/>
                </a:solidFill>
              </a:rPr>
              <a:t>Six independent layers — any single breach leaves the others intact.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84048" y="1234440"/>
            <a:ext cx="2724912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84048" y="1234440"/>
            <a:ext cx="54864" cy="16276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624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24128" y="1399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1B2E"/>
                </a:solidFill>
              </a:rPr>
              <a:t>Hardware-Backed Key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90"/>
                </a:solidFill>
              </a:rPr>
              <a:t>AES-256 in Android Keystore (StrongBox) or iOS Keychain (Secure Enclave). Never exported.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2724912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234440"/>
            <a:ext cx="54864" cy="1627632"/>
          </a:xfrm>
          <a:prstGeom prst="rect">
            <a:avLst/>
          </a:prstGeom>
          <a:solidFill>
            <a:srgbClr val="00C8F8"/>
          </a:solidFill>
          <a:ln w="12700">
            <a:solidFill>
              <a:srgbClr val="00C8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6432" y="13624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931920" y="1399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1B2E"/>
                </a:solidFill>
              </a:rPr>
              <a:t>Encrypted at Rest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56432" y="18288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90"/>
                </a:solidFill>
              </a:rPr>
              <a:t>HMAC-SHA256 keystream cipher per AsyncStorage entry. In-memory only during a live session.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9632" y="1234440"/>
            <a:ext cx="2724912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99632" y="1234440"/>
            <a:ext cx="54864" cy="1627632"/>
          </a:xfrm>
          <a:prstGeom prst="rect">
            <a:avLst/>
          </a:prstGeom>
          <a:solidFill>
            <a:srgbClr val="2EE8B0"/>
          </a:solidFill>
          <a:ln w="12700">
            <a:solidFill>
              <a:srgbClr val="2EE8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64224" y="13624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🧬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39712" y="1399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1B2E"/>
                </a:solidFill>
              </a:rPr>
              <a:t>Cancelable Templates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64224" y="18288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90"/>
                </a:solidFill>
              </a:rPr>
              <a:t>Biohash transform — rotate cancelableKey to revoke all enrolled templates instantly.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4048" y="3063240"/>
            <a:ext cx="2724912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84048" y="3063240"/>
            <a:ext cx="54864" cy="162763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191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🚫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24128" y="32278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1B2E"/>
                </a:solidFill>
              </a:rPr>
              <a:t>No Raw Images on Disk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36576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90"/>
                </a:solidFill>
              </a:rPr>
              <a:t>Only 512-d float embeddings are ever persisted. Raw face frames are never written to storage.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3063240"/>
            <a:ext cx="2724912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91840" y="3063240"/>
            <a:ext cx="54864" cy="1627632"/>
          </a:xfrm>
          <a:prstGeom prst="rect">
            <a:avLst/>
          </a:prstGeom>
          <a:solidFill>
            <a:srgbClr val="E87EAC"/>
          </a:solidFill>
          <a:ln w="12700">
            <a:solidFill>
              <a:srgbClr val="E87EA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56432" y="3191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⛓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931920" y="32278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1B2E"/>
                </a:solidFill>
              </a:rPr>
              <a:t>Tamper-Evident Log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56432" y="36576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90"/>
                </a:solidFill>
              </a:rPr>
              <a:t>SHA-256 hash chain + HMAC per event. Modifying any record breaks all subsequent hashes.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9632" y="3063240"/>
            <a:ext cx="2724912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99632" y="3063240"/>
            <a:ext cx="54864" cy="16276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64224" y="3191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839712" y="32278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1B2E"/>
                </a:solidFill>
              </a:rPr>
              <a:t>Model Integrity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64224" y="36576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90"/>
                </a:solidFill>
              </a:rPr>
              <a:t>SHA-256 of every .tflite verified against signed manifest on every FaceAuth.init() call.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Performance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ABFD0"/>
                </a:solidFill>
              </a:rPr>
              <a:t>CPU-only · XNNPACK delegate · 3 GB RAM · No GPU required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1965960" cy="1737360"/>
          </a:xfrm>
          <a:prstGeom prst="rect">
            <a:avLst/>
          </a:prstGeom>
          <a:solidFill>
            <a:srgbClr val="0A2D42"/>
          </a:solidFill>
          <a:ln w="12700">
            <a:solidFill>
              <a:srgbClr val="0A2D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280160"/>
            <a:ext cx="54864" cy="1737360"/>
          </a:xfrm>
          <a:prstGeom prst="rect">
            <a:avLst/>
          </a:prstGeom>
          <a:solidFill>
            <a:srgbClr val="00C8F8"/>
          </a:solidFill>
          <a:ln w="12700">
            <a:solidFill>
              <a:srgbClr val="00C8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8132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0C8F8"/>
                </a:solidFill>
              </a:rPr>
              <a:t>&lt; 4 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57200" y="23042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BFD0"/>
                </a:solidFill>
              </a:rPr>
              <a:t>end-to-end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ABFD0"/>
                </a:solidFill>
              </a:rPr>
              <a:t>auth time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1280160"/>
            <a:ext cx="1965960" cy="1737360"/>
          </a:xfrm>
          <a:prstGeom prst="rect">
            <a:avLst/>
          </a:prstGeom>
          <a:solidFill>
            <a:srgbClr val="0A2D42"/>
          </a:solidFill>
          <a:ln w="12700">
            <a:solidFill>
              <a:srgbClr val="0A2D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14600" y="1280160"/>
            <a:ext cx="54864" cy="1737360"/>
          </a:xfrm>
          <a:prstGeom prst="rect">
            <a:avLst/>
          </a:prstGeom>
          <a:solidFill>
            <a:srgbClr val="2EE8B0"/>
          </a:solidFill>
          <a:ln w="12700">
            <a:solidFill>
              <a:srgbClr val="2EE8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06040" y="148132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2EE8B0"/>
                </a:solidFill>
              </a:rPr>
              <a:t>&lt; 10 MB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2606040" y="23042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BFD0"/>
                </a:solidFill>
              </a:rPr>
              <a:t>total model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ABFD0"/>
                </a:solidFill>
              </a:rPr>
              <a:t>footprint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280160"/>
            <a:ext cx="1965960" cy="1737360"/>
          </a:xfrm>
          <a:prstGeom prst="rect">
            <a:avLst/>
          </a:prstGeom>
          <a:solidFill>
            <a:srgbClr val="0A2D42"/>
          </a:solidFill>
          <a:ln w="12700">
            <a:solidFill>
              <a:srgbClr val="0A2D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280160"/>
            <a:ext cx="54864" cy="17373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148132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A623"/>
                </a:solidFill>
              </a:rPr>
              <a:t>5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4754880" y="23042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BFD0"/>
                </a:solidFill>
              </a:rPr>
              <a:t>TFLite models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ABFD0"/>
                </a:solidFill>
              </a:rPr>
              <a:t>bundled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12280" y="1280160"/>
            <a:ext cx="1965960" cy="1737360"/>
          </a:xfrm>
          <a:prstGeom prst="rect">
            <a:avLst/>
          </a:prstGeom>
          <a:solidFill>
            <a:srgbClr val="0A2D42"/>
          </a:solidFill>
          <a:ln w="12700">
            <a:solidFill>
              <a:srgbClr val="0A2D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12280" y="1280160"/>
            <a:ext cx="54864" cy="1737360"/>
          </a:xfrm>
          <a:prstGeom prst="rect">
            <a:avLst/>
          </a:prstGeom>
          <a:solidFill>
            <a:srgbClr val="E87EAC"/>
          </a:solidFill>
          <a:ln w="12700">
            <a:solidFill>
              <a:srgbClr val="E87E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3720" y="1481328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E87EAC"/>
                </a:solidFill>
              </a:rPr>
              <a:t>0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6903720" y="23042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BFD0"/>
                </a:solidFill>
              </a:rPr>
              <a:t>cloud calls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ABFD0"/>
                </a:solidFill>
              </a:rPr>
              <a:t>per auth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32186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Stage-by-Stage Latency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3639312"/>
            <a:ext cx="5074920" cy="274320"/>
          </a:xfrm>
          <a:prstGeom prst="rect">
            <a:avLst/>
          </a:prstGeom>
          <a:solidFill>
            <a:srgbClr val="0A2D42"/>
          </a:solidFill>
          <a:ln w="12700">
            <a:solidFill>
              <a:srgbClr val="001B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BlazeFace detection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06240" y="365760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C8F8"/>
                </a:solidFill>
              </a:rPr>
              <a:t>&lt; 25 ms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913632"/>
            <a:ext cx="5074920" cy="274320"/>
          </a:xfrm>
          <a:prstGeom prst="rect">
            <a:avLst/>
          </a:prstGeom>
          <a:solidFill>
            <a:srgbClr val="001B2E"/>
          </a:solidFill>
          <a:ln w="12700">
            <a:solidFill>
              <a:srgbClr val="001B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93192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FaceMesh landmarks (468 pts)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206240" y="393192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C8F8"/>
                </a:solidFill>
              </a:rPr>
              <a:t>&lt; 40 ms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187952"/>
            <a:ext cx="5074920" cy="274320"/>
          </a:xfrm>
          <a:prstGeom prst="rect">
            <a:avLst/>
          </a:prstGeom>
          <a:solidFill>
            <a:srgbClr val="0A2D42"/>
          </a:solidFill>
          <a:ln w="12700">
            <a:solidFill>
              <a:srgbClr val="001B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20624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MiniFASNet liveness (×2 scales)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06240" y="420624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C8F8"/>
                </a:solidFill>
              </a:rPr>
              <a:t>&lt; 40 ms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462272"/>
            <a:ext cx="5074920" cy="274320"/>
          </a:xfrm>
          <a:prstGeom prst="rect">
            <a:avLst/>
          </a:prstGeom>
          <a:solidFill>
            <a:srgbClr val="001B2E"/>
          </a:solidFill>
          <a:ln w="12700">
            <a:solidFill>
              <a:srgbClr val="001B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48056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FaceNet 512-d embedding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206240" y="448056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C8F8"/>
                </a:solidFill>
              </a:rPr>
              <a:t>&lt; 80 ms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736592"/>
            <a:ext cx="5074920" cy="274320"/>
          </a:xfrm>
          <a:prstGeom prst="rect">
            <a:avLst/>
          </a:prstGeom>
          <a:solidFill>
            <a:srgbClr val="0A2D42"/>
          </a:solidFill>
          <a:ln w="12700">
            <a:solidFill>
              <a:srgbClr val="001B2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475488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Active challenge (user-paced)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206240" y="475488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C8F8"/>
                </a:solidFill>
              </a:rPr>
              <a:t>1.5 – 3 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0" y="32186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Bundled Models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577840" y="3639312"/>
            <a:ext cx="3200400" cy="274320"/>
          </a:xfrm>
          <a:prstGeom prst="rect">
            <a:avLst/>
          </a:prstGeom>
          <a:solidFill>
            <a:srgbClr val="0A2D42"/>
          </a:solidFill>
          <a:ln w="12700">
            <a:solidFill>
              <a:srgbClr val="001B2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87568" y="3657600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BlazeFace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589520" y="365760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C8F8"/>
                </a:solidFill>
              </a:rPr>
              <a:t>~0.5 MB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577840" y="3913632"/>
            <a:ext cx="3200400" cy="274320"/>
          </a:xfrm>
          <a:prstGeom prst="rect">
            <a:avLst/>
          </a:prstGeom>
          <a:solidFill>
            <a:srgbClr val="001B2E"/>
          </a:solidFill>
          <a:ln w="12700">
            <a:solidFill>
              <a:srgbClr val="001B2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87568" y="3931920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Face Mesh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589520" y="393192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C8F8"/>
                </a:solidFill>
              </a:rPr>
              <a:t>~3.0 MB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577840" y="4187952"/>
            <a:ext cx="3200400" cy="274320"/>
          </a:xfrm>
          <a:prstGeom prst="rect">
            <a:avLst/>
          </a:prstGeom>
          <a:solidFill>
            <a:srgbClr val="0A2D42"/>
          </a:solidFill>
          <a:ln w="12700">
            <a:solidFill>
              <a:srgbClr val="001B2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87568" y="4206240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FaceNet-512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589520" y="420624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EE8B0"/>
                </a:solidFill>
              </a:rPr>
              <a:t>~4.0 MB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577840" y="4462272"/>
            <a:ext cx="3200400" cy="274320"/>
          </a:xfrm>
          <a:prstGeom prst="rect">
            <a:avLst/>
          </a:prstGeom>
          <a:solidFill>
            <a:srgbClr val="001B2E"/>
          </a:solidFill>
          <a:ln w="12700">
            <a:solidFill>
              <a:srgbClr val="001B2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87568" y="4480560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MiniFASNet 2.7×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589520" y="448056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A623"/>
                </a:solidFill>
              </a:rPr>
              <a:t>~1.0 MB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577840" y="4736592"/>
            <a:ext cx="3200400" cy="274320"/>
          </a:xfrm>
          <a:prstGeom prst="rect">
            <a:avLst/>
          </a:prstGeom>
          <a:solidFill>
            <a:srgbClr val="0A2D42"/>
          </a:solidFill>
          <a:ln w="12700">
            <a:solidFill>
              <a:srgbClr val="001B2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87568" y="4754880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MiniFASNet 4.0×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589520" y="475488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A623"/>
                </a:solidFill>
              </a:rPr>
              <a:t>~1.0 MB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1B2E"/>
                </a:solidFill>
              </a:rPr>
              <a:t>Drop-In Integration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7A90"/>
                </a:solidFill>
              </a:rPr>
              <a:t>Three lines to init. One component to authenticate. Full pipeline handled automatically.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70432"/>
            <a:ext cx="5303520" cy="3749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29844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B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Initialize once at startup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153619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C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FaceAuth.init({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77393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awsSyncUrl: "https://api.example.com",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deviceToken: "device-secret",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24942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deviceId:    "unit-42",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C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27249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B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Pull templates while online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296265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C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FaceAuth.provision();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20040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BF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Render — everything is automatic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343814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E8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&lt;FaceAuthView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367588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mode="identify"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91363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models={models}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15137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onResult={(r) =&gt; handleResult(r)}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43891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E8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870448" y="117043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1B2E"/>
                </a:solidFill>
              </a:rPr>
              <a:t>FaceAuth API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870448" y="1627632"/>
            <a:ext cx="29260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645920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init(config)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43600" y="1810512"/>
            <a:ext cx="2788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7A90"/>
                </a:solidFill>
              </a:rPr>
              <a:t>Open stores, derive key, verify models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870448" y="2029968"/>
            <a:ext cx="29260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2048256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provision({ full? })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0" y="2212848"/>
            <a:ext cx="2788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7A90"/>
                </a:solidFill>
              </a:rPr>
              <a:t>Pull roster from server (incremental)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870448" y="2432304"/>
            <a:ext cx="29260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450592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enrollLocal(id, embs)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43600" y="2615184"/>
            <a:ext cx="2788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7A90"/>
                </a:solidFill>
              </a:rPr>
              <a:t>Store templates on-device, no server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870448" y="2834640"/>
            <a:ext cx="29260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852928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checkDuplicate(emb)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943600" y="3017520"/>
            <a:ext cx="2788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7A90"/>
                </a:solidFill>
              </a:rPr>
              <a:t>Detect re-registration fraud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870448" y="3236976"/>
            <a:ext cx="29260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255264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recordAttendance(result)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943600" y="3419856"/>
            <a:ext cx="2788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7A90"/>
                </a:solidFill>
              </a:rPr>
              <a:t>Append hash-chained event (auto)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870448" y="3639312"/>
            <a:ext cx="29260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657600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syncNow()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943600" y="3822192"/>
            <a:ext cx="2788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7A90"/>
                </a:solidFill>
              </a:rPr>
              <a:t>Push to AWS, purge acked rows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870448" y="4041648"/>
            <a:ext cx="29260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4059936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onSyncStatus(cb)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943600" y="4224528"/>
            <a:ext cx="2788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7A90"/>
                </a:solidFill>
              </a:rPr>
              <a:t>Subscribe to sync state changes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870448" y="4443984"/>
            <a:ext cx="29260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E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462272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dispose()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943600" y="4626864"/>
            <a:ext cx="2788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7A90"/>
                </a:solidFill>
              </a:rPr>
              <a:t>Stop watcher, release resources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-731520"/>
            <a:ext cx="3657600" cy="3657600"/>
          </a:xfrm>
          <a:prstGeom prst="ellipse">
            <a:avLst/>
          </a:prstGeom>
          <a:solidFill>
            <a:srgbClr val="028090">
              <a:alpha val="18000"/>
            </a:srgbClr>
          </a:solidFill>
          <a:ln w="12700">
            <a:solidFill>
              <a:srgbClr val="028090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2743200"/>
            <a:ext cx="3200400" cy="3200400"/>
          </a:xfrm>
          <a:prstGeom prst="ellipse">
            <a:avLst/>
          </a:prstGeom>
          <a:solidFill>
            <a:srgbClr val="2EE8B0">
              <a:alpha val="15000"/>
            </a:srgbClr>
          </a:solidFill>
          <a:ln w="12700">
            <a:solidFill>
              <a:srgbClr val="2EE8B0">
                <a:alpha val="1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react-native-offline-face-auth?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78992"/>
            <a:ext cx="2606040" cy="2377440"/>
          </a:xfrm>
          <a:prstGeom prst="rect">
            <a:avLst/>
          </a:prstGeom>
          <a:solidFill>
            <a:srgbClr val="0A2D42"/>
          </a:solidFill>
          <a:ln w="12700">
            <a:solidFill>
              <a:srgbClr val="0A2D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078992"/>
            <a:ext cx="54864" cy="2377440"/>
          </a:xfrm>
          <a:prstGeom prst="rect">
            <a:avLst/>
          </a:prstGeom>
          <a:solidFill>
            <a:srgbClr val="00C8F8"/>
          </a:solidFill>
          <a:ln w="12700">
            <a:solidFill>
              <a:srgbClr val="00C8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24358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C8F8"/>
                </a:solidFill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67512" y="17373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Truly Offline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" y="2130552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BFD0"/>
                </a:solidFill>
              </a:rPr>
              <a:t>All five models run on-device. No network = no problem. Sync when convenient.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078992"/>
            <a:ext cx="2606040" cy="2377440"/>
          </a:xfrm>
          <a:prstGeom prst="rect">
            <a:avLst/>
          </a:prstGeom>
          <a:solidFill>
            <a:srgbClr val="0A2D42"/>
          </a:solidFill>
          <a:ln w="12700">
            <a:solidFill>
              <a:srgbClr val="0A2D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1078992"/>
            <a:ext cx="54864" cy="2377440"/>
          </a:xfrm>
          <a:prstGeom prst="rect">
            <a:avLst/>
          </a:prstGeom>
          <a:solidFill>
            <a:srgbClr val="2EE8B0"/>
          </a:solidFill>
          <a:ln w="12700">
            <a:solidFill>
              <a:srgbClr val="2EE8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83864" y="124358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EE8B0"/>
                </a:solidFill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483864" y="17373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Spoof-Proof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83864" y="2130552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BFD0"/>
                </a:solidFill>
              </a:rPr>
              <a:t>Two independent liveness layers defeat prints, screens, masks, and video replays.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35624" y="1078992"/>
            <a:ext cx="2606040" cy="2377440"/>
          </a:xfrm>
          <a:prstGeom prst="rect">
            <a:avLst/>
          </a:prstGeom>
          <a:solidFill>
            <a:srgbClr val="0A2D42"/>
          </a:solidFill>
          <a:ln w="12700">
            <a:solidFill>
              <a:srgbClr val="0A2D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35624" y="1078992"/>
            <a:ext cx="54864" cy="2377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0216" y="124358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5A623"/>
                </a:solidFill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00216" y="17373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Security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0216" y="2130552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BFD0"/>
                </a:solidFill>
              </a:rPr>
              <a:t>Hardware keys, encrypted storage, cancelable templates, and a tamper-evident audit log.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39312"/>
            <a:ext cx="813816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76732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kern="0" spc="400" dirty="0">
                <a:solidFill>
                  <a:srgbClr val="00C8F8"/>
                </a:solidFill>
              </a:rPr>
              <a:t>Fast  ·  Scalable  ·  Integrated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0292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BFD0"/>
                </a:solidFill>
              </a:rPr>
              <a:t>react-native-offline-face-auth  —  MIT License  —  Open-source TFLite models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4736592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BFD0"/>
                </a:solidFill>
              </a:rPr>
              <a:t>react-native-vision-camera   ·   react-native-fast-tflite   ·   react-native-keychain   ·   async-storage   ·   netinfo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769</Words>
  <Application>Microsoft Office PowerPoint</Application>
  <PresentationFormat>On-screen Show (16:9)</PresentationFormat>
  <Paragraphs>187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react-native-offline-face-auth</dc:title>
  <dc:subject>PptxGenJS Presentation</dc:subject>
  <dc:creator>Xtrox</dc:creator>
  <cp:lastModifiedBy>Aashu Shar</cp:lastModifiedBy>
  <cp:revision>3</cp:revision>
  <dcterms:created xsi:type="dcterms:W3CDTF">2026-05-24T14:45:27Z</dcterms:created>
  <dcterms:modified xsi:type="dcterms:W3CDTF">2026-05-27T08:23:48Z</dcterms:modified>
</cp:coreProperties>
</file>