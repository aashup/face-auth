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0"/>
            <a:ext cx="2743200" cy="2743200"/>
          </a:xfrm>
          <a:prstGeom prst="ellipse">
            <a:avLst/>
          </a:prstGeom>
          <a:solidFill>
            <a:srgbClr val="00C8F8">
              <a:alpha val="15000"/>
            </a:srgbClr>
          </a:solidFill>
          <a:ln w="12700">
            <a:solidFill>
              <a:srgbClr val="00C8F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2EE8B0">
              <a:alpha val="15000"/>
            </a:srgbClr>
          </a:solidFill>
          <a:ln w="12700">
            <a:solidFill>
              <a:srgbClr val="2EE8B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Native · Offline · Biometrics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offline-face-auth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3566160" cy="64008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00C8F8"/>
                </a:solidFill>
              </a:rPr>
              <a:t>Fast  ·  Scalable  ·  Integrated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BFD0"/>
                </a:solidFill>
              </a:rPr>
              <a:t>Fully on-device facial recognition + liveness detection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BFD0"/>
                </a:solidFill>
              </a:rPr>
              <a:t>for field-personnel attendance — open-source TFLite models,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BFD0"/>
                </a:solidFill>
              </a:rPr>
              <a:t>hardware-backed security, and AWS sync-and-purge.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E8B0"/>
                </a:solidFill>
              </a:rPr>
              <a:t>&lt; 4 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auth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E8B0"/>
                </a:solidFill>
              </a:rPr>
              <a:t>&lt; 10 MB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model size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E8B0"/>
                </a:solidFill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cloud calls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for auth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E8B0"/>
                </a:solidFill>
              </a:rPr>
              <a:t>3 GB+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device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2E"/>
                </a:solidFill>
              </a:rPr>
              <a:t>The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7A90"/>
                </a:solidFill>
              </a:rPr>
              <a:t>Field personnel authentication in the real world is broken.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54864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B2E"/>
                </a:solidFill>
              </a:rPr>
              <a:t>No Connectivity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Field sites have unreliable or zero internet access. Cloud-dependent auth = failed logins.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25880"/>
            <a:ext cx="54864" cy="155448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3212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B2E"/>
                </a:solidFill>
              </a:rPr>
              <a:t>Photo Spoofing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Simple face-unlock systems are defeated by a printed photo or phone screen replay.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63240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200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B2E"/>
                </a:solidFill>
              </a:rPr>
              <a:t>Latency &amp; Cost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Round-trip server auth adds 2–8 s per attempt and incurs per-call API fees at scale.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63240"/>
            <a:ext cx="54864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32120" y="3200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B2E"/>
                </a:solidFill>
              </a:rPr>
              <a:t>No Audit Trail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Attendance records are mutable, unsigned, and easy to tamper with after the fact.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Solution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BFD0"/>
                </a:solidFill>
              </a:rPr>
              <a:t>One drop-in component. Four unbreakable pillars.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965960" cy="338328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54864" cy="3383280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8F8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6072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Offline-First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" y="2523744"/>
            <a:ext cx="1371600" cy="36576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670048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Full pipeline — detection, liveness, matching — runs with zero network. Sync when reconnected.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65960" cy="338328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371600"/>
            <a:ext cx="54864" cy="3383280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E8B0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24912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Hybrid Liveness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24912" y="2523744"/>
            <a:ext cx="1371600" cy="36576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2670048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MiniFASNet passive spoof detection (2-scale) + randomized active challenge (blink / smile / turn).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1965960" cy="338328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71600"/>
            <a:ext cx="54864" cy="3383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A623"/>
                </a:solidFill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73752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Hardware Security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73752" y="2523744"/>
            <a:ext cx="1371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670048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Android Keystore / iOS Keychain. AES-256 at rest. Cancelable biohash templates. Tamper-evident log.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1965960" cy="338328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371600"/>
            <a:ext cx="54864" cy="3383280"/>
          </a:xfrm>
          <a:prstGeom prst="rect">
            <a:avLst/>
          </a:prstGeom>
          <a:solidFill>
            <a:srgbClr val="E87EAC"/>
          </a:solidFill>
          <a:ln w="12700">
            <a:solidFill>
              <a:srgbClr val="E87E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7EAC"/>
                </a:solidFill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022592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 Sync &amp; Purge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22592" y="2523744"/>
            <a:ext cx="1371600" cy="36576"/>
          </a:xfrm>
          <a:prstGeom prst="rect">
            <a:avLst/>
          </a:prstGeom>
          <a:solidFill>
            <a:srgbClr val="E87EAC"/>
          </a:solidFill>
          <a:ln w="12700">
            <a:solidFill>
              <a:srgbClr val="E87E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2670048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Attendance events buffered locally, pushed on reconnect, purged only after server acknowledgement.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2E"/>
                </a:solidFill>
              </a:rPr>
              <a:t>Authentication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7A90"/>
                </a:solidFill>
              </a:rPr>
              <a:t>Every auth attempt flows through a 4-stage gate — fully on-device.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34440"/>
            <a:ext cx="54864" cy="3520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362456"/>
            <a:ext cx="694944" cy="6949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624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219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</a:rPr>
              <a:t>GATE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B2E"/>
                </a:solidFill>
              </a:rPr>
              <a:t>Quality 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" y="2916936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7 checks: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blur, brightness,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size, centering,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pose, 1-face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86584" y="2788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05456" y="12344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05456" y="1234440"/>
            <a:ext cx="54864" cy="3520440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1362456"/>
            <a:ext cx="694944" cy="694944"/>
          </a:xfrm>
          <a:prstGeom prst="ellipse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13624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70048" y="22219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8F8"/>
                </a:solidFill>
              </a:rPr>
              <a:t>CHALLENGE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0048" y="2532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B2E"/>
                </a:solidFill>
              </a:rPr>
              <a:t>Active Liveness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08376" y="2916936"/>
            <a:ext cx="914400" cy="36576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3063240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Random task: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Blink / Smile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Turn 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10 min timeout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2788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26864" y="12344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1234440"/>
            <a:ext cx="54864" cy="3520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1362456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48656" y="13624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91456" y="22219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</a:rPr>
              <a:t>ANALYZE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2532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B2E"/>
                </a:solidFill>
              </a:rPr>
              <a:t>Passive + Embed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29784" y="2916936"/>
            <a:ext cx="9144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063240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MiniFASNet ×2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spoof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FaceNet 512-d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vector (×4 frames)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2788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48272" y="12344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48272" y="1234440"/>
            <a:ext cx="54864" cy="3520440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70064" y="1362456"/>
            <a:ext cx="694944" cy="694944"/>
          </a:xfrm>
          <a:prstGeom prst="ellipse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0064" y="13624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12864" y="22219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EE8B0"/>
                </a:solidFill>
              </a:rPr>
              <a:t>MATCH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12864" y="25328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B2E"/>
                </a:solidFill>
              </a:rPr>
              <a:t>3-Step Cascade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51192" y="2916936"/>
            <a:ext cx="914400" cy="36576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2864" y="3063240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Coarse filter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Cross-matrix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Score fusion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≥ 0.72 → PASS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97280" y="4681728"/>
            <a:ext cx="6949440" cy="320040"/>
          </a:xfrm>
          <a:prstGeom prst="roundRect">
            <a:avLst>
              <a:gd name="adj" fmla="val 22857"/>
            </a:avLst>
          </a:prstGeom>
          <a:solidFill>
            <a:srgbClr val="2EE8B0">
              <a:alpha val="85000"/>
            </a:srgbClr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6817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B2E"/>
                </a:solidFill>
              </a:rPr>
              <a:t>AuthResult  { ok, personnelId, matchScore, livenessScore, challengePassed }  →  auditLog (signed, hash-chained)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Hybrid Liveness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BFD0"/>
                </a:solidFill>
              </a:rPr>
              <a:t>Two independent spoof-defeating layers — neither alone is sufficient.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365760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3657600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8"/>
                </a:solidFill>
              </a:rPr>
              <a:t>PASSIVE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MiniFASNet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Anti-Spoofing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219456" cy="219456"/>
          </a:xfrm>
          <a:prstGeom prst="ellipse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505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2.7× scale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743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Captures texture artifacts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from printed photos &amp; screens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219456" cy="219456"/>
          </a:xfrm>
          <a:prstGeom prst="ellipse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1821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4.0×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474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Captures geometry cues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from 3D masks &amp; video replays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219456" cy="219456"/>
          </a:xfrm>
          <a:prstGeom prst="ellipse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9136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Averaged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4206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4 frames · both branches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for a stable live/spoof decision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88720"/>
            <a:ext cx="4069080" cy="365760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88720"/>
            <a:ext cx="54864" cy="3657600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E8B0"/>
                </a:solidFill>
              </a:rPr>
              <a:t>ACTIVE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627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Randomized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Challenge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92040" y="24505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👁  Blink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EAR dips &lt; 0.18 (closed)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then rises ≥ 0.22 (open)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182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😊  Smile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mouth_width / mouth_height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ratio ≥ 0.72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↩  Turn Head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206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|yaw| &gt; 15° away, then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BFD0"/>
                </a:solidFill>
              </a:rPr>
              <a:t>returns |yaw| &lt; 5°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60520" y="265176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1B2E"/>
                </a:solidFill>
              </a:rPr>
              <a:t>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029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One is chosen at random per session — static photos, screens, and masks all fail.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2E"/>
                </a:solidFill>
              </a:rPr>
              <a:t>Security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7A90"/>
                </a:solidFill>
              </a:rPr>
              <a:t>Six independent layers — any single breach leaves the others intact.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34440"/>
            <a:ext cx="54864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399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2E"/>
                </a:solidFill>
              </a:rPr>
              <a:t>Hardware-Backed Key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</a:rPr>
              <a:t>AES-256 in Android Keystore (StrongBox) or iOS Keychain (Secure Enclave). Never exported.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54864" cy="1627632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0" y="1399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2E"/>
                </a:solidFill>
              </a:rPr>
              <a:t>Encrypted at 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18288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</a:rPr>
              <a:t>HMAC-SHA256 keystream cipher per AsyncStorage entry. In-memory only during a live session.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23444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234440"/>
            <a:ext cx="54864" cy="1627632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39712" y="1399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2E"/>
                </a:solidFill>
              </a:rPr>
              <a:t>Cancelable Templates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4224" y="18288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</a:rPr>
              <a:t>Biohash transform — rotate cancelableKey to revoke all enrolled templates instantly.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06324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063240"/>
            <a:ext cx="54864" cy="16276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24128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2E"/>
                </a:solidFill>
              </a:rPr>
              <a:t>No Raw Images on Disk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</a:rPr>
              <a:t>Only 512-d float embeddings are ever persisted. Raw face frames are never written to storage.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63240"/>
            <a:ext cx="54864" cy="1627632"/>
          </a:xfrm>
          <a:prstGeom prst="rect">
            <a:avLst/>
          </a:prstGeom>
          <a:solidFill>
            <a:srgbClr val="E87EAC"/>
          </a:solidFill>
          <a:ln w="12700">
            <a:solidFill>
              <a:srgbClr val="E87E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31920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2E"/>
                </a:solidFill>
              </a:rPr>
              <a:t>Tamper-Evident 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3657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</a:rPr>
              <a:t>SHA-256 hash chain + HMAC per event. Modifying any record breaks all subsequent hashes.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306324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063240"/>
            <a:ext cx="54864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39712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2E"/>
                </a:solidFill>
              </a:rPr>
              <a:t>Model Integrity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64224" y="36576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</a:rPr>
              <a:t>SHA-256 of every .tflite verified against signed manifest on every FaceAuth.init() call.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BFD0"/>
                </a:solidFill>
              </a:rPr>
              <a:t>CPU-only · XNNPACK delegate · 3 GB RAM · No GPU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65960" cy="173736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1737360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8F8"/>
                </a:solidFill>
              </a:rPr>
              <a:t>&lt; 4 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end-to-end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auth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1965960" cy="173736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280160"/>
            <a:ext cx="54864" cy="1737360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813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E8B0"/>
                </a:solidFill>
              </a:rPr>
              <a:t>&lt; 10 MB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606040" y="23042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total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footprint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65960" cy="173736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813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</a:rPr>
              <a:t>5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754880" y="23042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TFLite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bundled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1965960" cy="173736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280160"/>
            <a:ext cx="54864" cy="1737360"/>
          </a:xfrm>
          <a:prstGeom prst="rect">
            <a:avLst/>
          </a:prstGeom>
          <a:solidFill>
            <a:srgbClr val="E87EAC"/>
          </a:solidFill>
          <a:ln w="12700">
            <a:solidFill>
              <a:srgbClr val="E87E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48132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EAC"/>
                </a:solidFill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903720" y="23042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cloud calls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per auth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Stage-by-Stage Latency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5074920" cy="274320"/>
          </a:xfrm>
          <a:prstGeom prst="rect">
            <a:avLst/>
          </a:prstGeom>
          <a:solidFill>
            <a:srgbClr val="0A2D42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BlazeFace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36576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8"/>
                </a:solidFill>
              </a:rPr>
              <a:t>&lt; 25 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5074920" cy="274320"/>
          </a:xfrm>
          <a:prstGeom prst="rect">
            <a:avLst/>
          </a:prstGeom>
          <a:solidFill>
            <a:srgbClr val="001B2E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319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FaceMesh landmarks (468 pts)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39319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8"/>
                </a:solidFill>
              </a:rPr>
              <a:t>&lt; 40 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187952"/>
            <a:ext cx="5074920" cy="274320"/>
          </a:xfrm>
          <a:prstGeom prst="rect">
            <a:avLst/>
          </a:prstGeom>
          <a:solidFill>
            <a:srgbClr val="0A2D42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06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MiniFASNet liveness (×2 scales)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42062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8"/>
                </a:solidFill>
              </a:rPr>
              <a:t>&lt; 40 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462272"/>
            <a:ext cx="5074920" cy="274320"/>
          </a:xfrm>
          <a:prstGeom prst="rect">
            <a:avLst/>
          </a:prstGeom>
          <a:solidFill>
            <a:srgbClr val="001B2E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805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FaceNet 512-d embedding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44805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8"/>
                </a:solidFill>
              </a:rPr>
              <a:t>&lt; 80 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736592"/>
            <a:ext cx="5074920" cy="274320"/>
          </a:xfrm>
          <a:prstGeom prst="rect">
            <a:avLst/>
          </a:prstGeom>
          <a:solidFill>
            <a:srgbClr val="0A2D42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548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Active challenge (user-paced)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47548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8"/>
                </a:solidFill>
              </a:rPr>
              <a:t>1.5 – 3 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Bundled Models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577840" y="3639312"/>
            <a:ext cx="3200400" cy="274320"/>
          </a:xfrm>
          <a:prstGeom prst="rect">
            <a:avLst/>
          </a:prstGeom>
          <a:solidFill>
            <a:srgbClr val="0A2D42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365760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BlazeFace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36576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8"/>
                </a:solidFill>
              </a:rPr>
              <a:t>~0.5 MB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913632"/>
            <a:ext cx="3200400" cy="274320"/>
          </a:xfrm>
          <a:prstGeom prst="rect">
            <a:avLst/>
          </a:prstGeom>
          <a:solidFill>
            <a:srgbClr val="001B2E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393192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Face Mesh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89520" y="39319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8"/>
                </a:solidFill>
              </a:rPr>
              <a:t>~3.0 MB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4187952"/>
            <a:ext cx="3200400" cy="274320"/>
          </a:xfrm>
          <a:prstGeom prst="rect">
            <a:avLst/>
          </a:prstGeom>
          <a:solidFill>
            <a:srgbClr val="0A2D42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7568" y="42062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FaceNet-512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0" y="42062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E8B0"/>
                </a:solidFill>
              </a:rPr>
              <a:t>~4.0 MB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77840" y="4462272"/>
            <a:ext cx="3200400" cy="274320"/>
          </a:xfrm>
          <a:prstGeom prst="rect">
            <a:avLst/>
          </a:prstGeom>
          <a:solidFill>
            <a:srgbClr val="001B2E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44805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MiniFASNet 2.7×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589520" y="44805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~1.0 MB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77840" y="4736592"/>
            <a:ext cx="3200400" cy="274320"/>
          </a:xfrm>
          <a:prstGeom prst="rect">
            <a:avLst/>
          </a:prstGeom>
          <a:solidFill>
            <a:srgbClr val="0A2D42"/>
          </a:solidFill>
          <a:ln w="12700">
            <a:solidFill>
              <a:srgbClr val="001B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47548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MiniFASNet 4.0×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89520" y="47548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~1.0 MB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2E"/>
                </a:solidFill>
              </a:rPr>
              <a:t>Drop-In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7A90"/>
                </a:solidFill>
              </a:rPr>
              <a:t>Three lines to init. One component to authenticate. Full pipeline handled automatically.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530352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984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Initialize once at startup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FaceAuth.init({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39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awsSyncUrl: "https://api.example.com",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deviceToken: "device-secret",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494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deviceId:    "unit-42",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Pull templates while online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9626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FaceAuth.provision();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Render — everything is automatic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381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E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&lt;FaceAuthView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6758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mode="identify"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136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models={models}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1513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onResult={(r) =&gt; handleResult(r)}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E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70448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B2E"/>
                </a:solidFill>
              </a:rPr>
              <a:t>FaceAuth API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70448" y="1627632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64592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init(config)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181051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Open stores, derive key, verify models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70448" y="2029968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04825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provision({ full? })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22128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Pull roster from server (incremental)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70448" y="2432304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45059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enrollLocal(id, embs)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2615184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Store templates on-device, no server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70448" y="2834640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85292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checkDuplicate(emb)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301752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Detect re-registration fraud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70448" y="3236976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25526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recordAttendance(result)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3419856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Append hash-chained event (auto)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70448" y="3639312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65760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syncNow()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382219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Push to AWS, purge acked rows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70448" y="4041648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0599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onSyncStatus(cb)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22452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Subscribe to sync state changes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70448" y="4443984"/>
            <a:ext cx="29260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4462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dispose()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4626864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</a:rPr>
              <a:t>Stop watcher, release resources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0"/>
            <a:ext cx="3200400" cy="3200400"/>
          </a:xfrm>
          <a:prstGeom prst="ellipse">
            <a:avLst/>
          </a:prstGeom>
          <a:solidFill>
            <a:srgbClr val="2EE8B0">
              <a:alpha val="15000"/>
            </a:srgbClr>
          </a:solidFill>
          <a:ln w="12700">
            <a:solidFill>
              <a:srgbClr val="2EE8B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react-native-offline-face-auth?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06040" cy="237744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78992"/>
            <a:ext cx="54864" cy="2377440"/>
          </a:xfrm>
          <a:prstGeom prst="rect">
            <a:avLst/>
          </a:prstGeom>
          <a:solidFill>
            <a:srgbClr val="00C8F8"/>
          </a:solidFill>
          <a:ln w="12700">
            <a:solidFill>
              <a:srgbClr val="00C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243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F8"/>
                </a:solidFill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67512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Truly Offline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130552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All five models run on-device. No network = no problem. Sync when convenient.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078992"/>
            <a:ext cx="2606040" cy="237744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078992"/>
            <a:ext cx="54864" cy="2377440"/>
          </a:xfrm>
          <a:prstGeom prst="rect">
            <a:avLst/>
          </a:prstGeom>
          <a:solidFill>
            <a:srgbClr val="2EE8B0"/>
          </a:solidFill>
          <a:ln w="12700">
            <a:solidFill>
              <a:srgbClr val="2EE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243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E8B0"/>
                </a:solidFill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83864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Spoof-Proof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3864" y="2130552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Two independent liveness layers defeat prints, screens, masks, and video replays.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1078992"/>
            <a:ext cx="2606040" cy="2377440"/>
          </a:xfrm>
          <a:prstGeom prst="rect">
            <a:avLst/>
          </a:prstGeom>
          <a:solidFill>
            <a:srgbClr val="0A2D42"/>
          </a:solidFill>
          <a:ln w="12700">
            <a:solidFill>
              <a:srgbClr val="0A2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078992"/>
            <a:ext cx="54864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243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0216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0216" y="2130552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Hardware keys, encrypted storage, cancelable templates, and a tamper-evident audit log.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39312"/>
            <a:ext cx="81381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673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00C8F8"/>
                </a:solidFill>
              </a:rPr>
              <a:t>Fast  ·  Scalable  ·  Integrated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BFD0"/>
                </a:solidFill>
              </a:rPr>
              <a:t>react-native-offline-face-auth  —  MIT License  —  Open-source TFLite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73659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BFD0"/>
                </a:solidFill>
              </a:rPr>
              <a:t>react-native-vision-camera   ·   react-native-fast-tflite   ·   react-native-keychain   ·   async-storage   ·   netinfo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react-native-offline-face-auth</dc:title>
  <dc:subject>PptxGenJS Presentation</dc:subject>
  <dc:creator>Xtrox</dc:creator>
  <cp:lastModifiedBy>Xtrox</cp:lastModifiedBy>
  <cp:revision>1</cp:revision>
  <dcterms:created xsi:type="dcterms:W3CDTF">2026-05-24T14:45:27Z</dcterms:created>
  <dcterms:modified xsi:type="dcterms:W3CDTF">2026-05-24T14:45:27Z</dcterms:modified>
</cp:coreProperties>
</file>